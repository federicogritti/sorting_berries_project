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Stinger Wide Bold" charset="1" panose="00000800000000000000"/>
      <p:regular r:id="rId12"/>
    </p:embeddedFont>
    <p:embeddedFont>
      <p:font typeface="Codec Pro Bold" charset="1" panose="00000600000000000000"/>
      <p:regular r:id="rId13"/>
    </p:embeddedFont>
    <p:embeddedFont>
      <p:font typeface="Codec Pro"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4.png" Type="http://schemas.openxmlformats.org/officeDocument/2006/relationships/image"/><Relationship Id="rId13" Target="../media/image15.svg" Type="http://schemas.openxmlformats.org/officeDocument/2006/relationships/image"/><Relationship Id="rId14" Target="../media/image1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33625" y="2929860"/>
            <a:ext cx="6844743" cy="7781801"/>
          </a:xfrm>
          <a:custGeom>
            <a:avLst/>
            <a:gdLst/>
            <a:ahLst/>
            <a:cxnLst/>
            <a:rect r="r" b="b" t="t" l="l"/>
            <a:pathLst>
              <a:path h="7781801" w="6844743">
                <a:moveTo>
                  <a:pt x="0" y="0"/>
                </a:moveTo>
                <a:lnTo>
                  <a:pt x="6844743" y="0"/>
                </a:lnTo>
                <a:lnTo>
                  <a:pt x="6844743" y="7781802"/>
                </a:lnTo>
                <a:lnTo>
                  <a:pt x="0" y="7781802"/>
                </a:lnTo>
                <a:lnTo>
                  <a:pt x="0" y="0"/>
                </a:lnTo>
                <a:close/>
              </a:path>
            </a:pathLst>
          </a:custGeom>
          <a:blipFill>
            <a:blip r:embed="rId2"/>
            <a:stretch>
              <a:fillRect l="0" t="0" r="0" b="0"/>
            </a:stretch>
          </a:blipFill>
        </p:spPr>
      </p:sp>
      <p:sp>
        <p:nvSpPr>
          <p:cNvPr name="Freeform 3" id="3"/>
          <p:cNvSpPr/>
          <p:nvPr/>
        </p:nvSpPr>
        <p:spPr>
          <a:xfrm flipH="false" flipV="false" rot="0">
            <a:off x="-1102861" y="4605090"/>
            <a:ext cx="4660587" cy="5837896"/>
          </a:xfrm>
          <a:custGeom>
            <a:avLst/>
            <a:gdLst/>
            <a:ahLst/>
            <a:cxnLst/>
            <a:rect r="r" b="b" t="t" l="l"/>
            <a:pathLst>
              <a:path h="5837896" w="4660587">
                <a:moveTo>
                  <a:pt x="0" y="0"/>
                </a:moveTo>
                <a:lnTo>
                  <a:pt x="4660587" y="0"/>
                </a:lnTo>
                <a:lnTo>
                  <a:pt x="4660587" y="5837895"/>
                </a:lnTo>
                <a:lnTo>
                  <a:pt x="0" y="5837895"/>
                </a:lnTo>
                <a:lnTo>
                  <a:pt x="0" y="0"/>
                </a:lnTo>
                <a:close/>
              </a:path>
            </a:pathLst>
          </a:custGeom>
          <a:blipFill>
            <a:blip r:embed="rId3"/>
            <a:stretch>
              <a:fillRect l="0" t="0" r="0" b="0"/>
            </a:stretch>
          </a:blipFill>
        </p:spPr>
      </p:sp>
      <p:sp>
        <p:nvSpPr>
          <p:cNvPr name="TextBox 4" id="4"/>
          <p:cNvSpPr txBox="true"/>
          <p:nvPr/>
        </p:nvSpPr>
        <p:spPr>
          <a:xfrm rot="0">
            <a:off x="3263944" y="2523427"/>
            <a:ext cx="11760112" cy="4553852"/>
          </a:xfrm>
          <a:prstGeom prst="rect">
            <a:avLst/>
          </a:prstGeom>
        </p:spPr>
        <p:txBody>
          <a:bodyPr anchor="t" rtlCol="false" tIns="0" lIns="0" bIns="0" rIns="0">
            <a:spAutoFit/>
          </a:bodyPr>
          <a:lstStyle/>
          <a:p>
            <a:pPr algn="ctr">
              <a:lnSpc>
                <a:spcPts val="17426"/>
              </a:lnSpc>
            </a:pPr>
            <a:r>
              <a:rPr lang="en-US" sz="17965" b="true">
                <a:solidFill>
                  <a:srgbClr val="143F87"/>
                </a:solidFill>
                <a:latin typeface="Stinger Wide Bold"/>
                <a:ea typeface="Stinger Wide Bold"/>
                <a:cs typeface="Stinger Wide Bold"/>
                <a:sym typeface="Stinger Wide Bold"/>
              </a:rPr>
              <a:t>Robotics </a:t>
            </a:r>
            <a:r>
              <a:rPr lang="en-US" b="true" sz="17965">
                <a:solidFill>
                  <a:srgbClr val="143F87"/>
                </a:solidFill>
                <a:latin typeface="Stinger Wide Bold"/>
                <a:ea typeface="Stinger Wide Bold"/>
                <a:cs typeface="Stinger Wide Bold"/>
                <a:sym typeface="Stinger Wide Bold"/>
              </a:rPr>
              <a:t>Project</a:t>
            </a:r>
          </a:p>
        </p:txBody>
      </p:sp>
      <p:sp>
        <p:nvSpPr>
          <p:cNvPr name="Freeform 5" id="5"/>
          <p:cNvSpPr/>
          <p:nvPr/>
        </p:nvSpPr>
        <p:spPr>
          <a:xfrm flipH="false" flipV="false" rot="3921125">
            <a:off x="-1436041" y="-1396777"/>
            <a:ext cx="5028724" cy="5028724"/>
          </a:xfrm>
          <a:custGeom>
            <a:avLst/>
            <a:gdLst/>
            <a:ahLst/>
            <a:cxnLst/>
            <a:rect r="r" b="b" t="t" l="l"/>
            <a:pathLst>
              <a:path h="5028724" w="5028724">
                <a:moveTo>
                  <a:pt x="0" y="0"/>
                </a:moveTo>
                <a:lnTo>
                  <a:pt x="5028724" y="0"/>
                </a:lnTo>
                <a:lnTo>
                  <a:pt x="5028724" y="5028724"/>
                </a:lnTo>
                <a:lnTo>
                  <a:pt x="0" y="50287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571653">
            <a:off x="6899607" y="-3050983"/>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7112785" y="8078812"/>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880430" y="-1632738"/>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4235519" y="7079538"/>
            <a:ext cx="9816961" cy="746125"/>
          </a:xfrm>
          <a:prstGeom prst="rect">
            <a:avLst/>
          </a:prstGeom>
        </p:spPr>
        <p:txBody>
          <a:bodyPr anchor="t" rtlCol="false" tIns="0" lIns="0" bIns="0" rIns="0">
            <a:spAutoFit/>
          </a:bodyPr>
          <a:lstStyle/>
          <a:p>
            <a:pPr algn="ctr">
              <a:lnSpc>
                <a:spcPts val="5599"/>
              </a:lnSpc>
            </a:pPr>
            <a:r>
              <a:rPr lang="en-US" b="true" sz="3999" spc="43">
                <a:solidFill>
                  <a:srgbClr val="000000"/>
                </a:solidFill>
                <a:latin typeface="Codec Pro Bold"/>
                <a:ea typeface="Codec Pro Bold"/>
                <a:cs typeface="Codec Pro Bold"/>
                <a:sym typeface="Codec Pro Bold"/>
              </a:rPr>
              <a:t>Federico Gritti, Kadir Özden, Fanni Véh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539315" y="1167092"/>
            <a:ext cx="7209370" cy="904849"/>
          </a:xfrm>
          <a:prstGeom prst="rect">
            <a:avLst/>
          </a:prstGeom>
        </p:spPr>
        <p:txBody>
          <a:bodyPr anchor="t" rtlCol="false" tIns="0" lIns="0" bIns="0" rIns="0">
            <a:spAutoFit/>
          </a:bodyPr>
          <a:lstStyle/>
          <a:p>
            <a:pPr algn="ctr">
              <a:lnSpc>
                <a:spcPts val="6641"/>
              </a:lnSpc>
            </a:pPr>
            <a:r>
              <a:rPr lang="en-US" b="true" sz="6846">
                <a:solidFill>
                  <a:srgbClr val="214184"/>
                </a:solidFill>
                <a:latin typeface="Stinger Wide Bold"/>
                <a:ea typeface="Stinger Wide Bold"/>
                <a:cs typeface="Stinger Wide Bold"/>
                <a:sym typeface="Stinger Wide Bold"/>
              </a:rPr>
              <a:t>Introduction</a:t>
            </a:r>
          </a:p>
        </p:txBody>
      </p:sp>
      <p:sp>
        <p:nvSpPr>
          <p:cNvPr name="TextBox 3" id="3"/>
          <p:cNvSpPr txBox="true"/>
          <p:nvPr/>
        </p:nvSpPr>
        <p:spPr>
          <a:xfrm rot="0">
            <a:off x="4051282" y="2420336"/>
            <a:ext cx="10185436" cy="1825625"/>
          </a:xfrm>
          <a:prstGeom prst="rect">
            <a:avLst/>
          </a:prstGeom>
        </p:spPr>
        <p:txBody>
          <a:bodyPr anchor="t" rtlCol="false" tIns="0" lIns="0" bIns="0" rIns="0">
            <a:spAutoFit/>
          </a:bodyPr>
          <a:lstStyle/>
          <a:p>
            <a:pPr algn="ctr">
              <a:lnSpc>
                <a:spcPts val="5599"/>
              </a:lnSpc>
            </a:pPr>
            <a:r>
              <a:rPr lang="en-US" sz="3999" spc="43">
                <a:solidFill>
                  <a:srgbClr val="000000"/>
                </a:solidFill>
                <a:latin typeface="Codec Pro"/>
                <a:ea typeface="Codec Pro"/>
                <a:cs typeface="Codec Pro"/>
                <a:sym typeface="Codec Pro"/>
              </a:rPr>
              <a:t>Goal: </a:t>
            </a:r>
          </a:p>
          <a:p>
            <a:pPr algn="ctr">
              <a:lnSpc>
                <a:spcPts val="4200"/>
              </a:lnSpc>
            </a:pPr>
            <a:r>
              <a:rPr lang="en-US" b="true" sz="3000" spc="32">
                <a:solidFill>
                  <a:srgbClr val="000000"/>
                </a:solidFill>
                <a:latin typeface="Codec Pro Bold"/>
                <a:ea typeface="Codec Pro Bold"/>
                <a:cs typeface="Codec Pro Bold"/>
                <a:sym typeface="Codec Pro Bold"/>
              </a:rPr>
              <a:t>Sorting berries</a:t>
            </a:r>
            <a:r>
              <a:rPr lang="en-US" sz="3000" spc="32">
                <a:solidFill>
                  <a:srgbClr val="000000"/>
                </a:solidFill>
                <a:latin typeface="Codec Pro"/>
                <a:ea typeface="Codec Pro"/>
                <a:cs typeface="Codec Pro"/>
                <a:sym typeface="Codec Pro"/>
              </a:rPr>
              <a:t> by colour on a table and placing them in the corresponding coloured box </a:t>
            </a:r>
          </a:p>
        </p:txBody>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6" id="6"/>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7" id="7"/>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826720" y="4713533"/>
            <a:ext cx="8217397" cy="5071156"/>
          </a:xfrm>
          <a:custGeom>
            <a:avLst/>
            <a:gdLst/>
            <a:ahLst/>
            <a:cxnLst/>
            <a:rect r="r" b="b" t="t" l="l"/>
            <a:pathLst>
              <a:path h="5071156" w="8217397">
                <a:moveTo>
                  <a:pt x="0" y="0"/>
                </a:moveTo>
                <a:lnTo>
                  <a:pt x="8217397" y="0"/>
                </a:lnTo>
                <a:lnTo>
                  <a:pt x="8217397" y="5071156"/>
                </a:lnTo>
                <a:lnTo>
                  <a:pt x="0" y="5071156"/>
                </a:lnTo>
                <a:lnTo>
                  <a:pt x="0" y="0"/>
                </a:lnTo>
                <a:close/>
              </a:path>
            </a:pathLst>
          </a:custGeom>
          <a:blipFill>
            <a:blip r:embed="rId1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327834"/>
            <a:ext cx="6545941" cy="17430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What we have done</a:t>
            </a:r>
          </a:p>
        </p:txBody>
      </p:sp>
      <p:sp>
        <p:nvSpPr>
          <p:cNvPr name="TextBox 3" id="3"/>
          <p:cNvSpPr txBox="true"/>
          <p:nvPr/>
        </p:nvSpPr>
        <p:spPr>
          <a:xfrm rot="0">
            <a:off x="4051282" y="1924465"/>
            <a:ext cx="7810681" cy="3797373"/>
          </a:xfrm>
          <a:prstGeom prst="rect">
            <a:avLst/>
          </a:prstGeom>
        </p:spPr>
        <p:txBody>
          <a:bodyPr anchor="t" rtlCol="false" tIns="0" lIns="0" bIns="0" rIns="0">
            <a:spAutoFit/>
          </a:bodyPr>
          <a:lstStyle/>
          <a:p>
            <a:pPr algn="l">
              <a:lnSpc>
                <a:spcPts val="3320"/>
              </a:lnSpc>
            </a:pPr>
            <a:r>
              <a:rPr lang="en-US" sz="2372" spc="26" b="true">
                <a:solidFill>
                  <a:srgbClr val="000000"/>
                </a:solidFill>
                <a:latin typeface="Codec Pro Bold"/>
                <a:ea typeface="Codec Pro Bold"/>
                <a:cs typeface="Codec Pro Bold"/>
                <a:sym typeface="Codec Pro Bold"/>
              </a:rPr>
              <a:t>Core Tasks:</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Create all the necessary classes and methods to create reusable code.</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Create an algorithm to identify and sort objects (e.g., colored cubes) into designated bins based on their color.</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Use the Panda robot manipulator and assume the color of the objects is known.</a:t>
            </a:r>
          </a:p>
          <a:p>
            <a:pPr algn="l">
              <a:lnSpc>
                <a:spcPts val="3320"/>
              </a:lnSpc>
            </a:pPr>
          </a:p>
        </p:txBody>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6" id="6"/>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7" id="7"/>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3152406" y="2603992"/>
            <a:ext cx="1028665" cy="1028665"/>
          </a:xfrm>
          <a:custGeom>
            <a:avLst/>
            <a:gdLst/>
            <a:ahLst/>
            <a:cxnLst/>
            <a:rect r="r" b="b" t="t" l="l"/>
            <a:pathLst>
              <a:path h="1028665" w="1028665">
                <a:moveTo>
                  <a:pt x="0" y="0"/>
                </a:moveTo>
                <a:lnTo>
                  <a:pt x="1028665" y="0"/>
                </a:lnTo>
                <a:lnTo>
                  <a:pt x="1028665" y="1028665"/>
                </a:lnTo>
                <a:lnTo>
                  <a:pt x="0" y="10286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6770366" y="5646072"/>
            <a:ext cx="7466352" cy="2540073"/>
          </a:xfrm>
          <a:prstGeom prst="rect">
            <a:avLst/>
          </a:prstGeom>
        </p:spPr>
        <p:txBody>
          <a:bodyPr anchor="t" rtlCol="false" tIns="0" lIns="0" bIns="0" rIns="0">
            <a:spAutoFit/>
          </a:bodyPr>
          <a:lstStyle/>
          <a:p>
            <a:pPr algn="l">
              <a:lnSpc>
                <a:spcPts val="3320"/>
              </a:lnSpc>
            </a:pPr>
            <a:r>
              <a:rPr lang="en-US" sz="2372" spc="26" b="true">
                <a:solidFill>
                  <a:srgbClr val="000000"/>
                </a:solidFill>
                <a:latin typeface="Codec Pro Bold"/>
                <a:ea typeface="Codec Pro Bold"/>
                <a:cs typeface="Codec Pro Bold"/>
                <a:sym typeface="Codec Pro Bold"/>
              </a:rPr>
              <a:t>F</a:t>
            </a:r>
            <a:r>
              <a:rPr lang="en-US" sz="2372" spc="26" b="true">
                <a:solidFill>
                  <a:srgbClr val="000000"/>
                </a:solidFill>
                <a:latin typeface="Codec Pro Bold"/>
                <a:ea typeface="Codec Pro Bold"/>
                <a:cs typeface="Codec Pro Bold"/>
                <a:sym typeface="Codec Pro Bold"/>
              </a:rPr>
              <a:t>or Each Detected Object:</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Compute the picking position (pick) and the placing position (place) based on the object’s color.</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Use inverse kinematics to obtain the robot configurations (q_pick and q_place).</a:t>
            </a:r>
          </a:p>
        </p:txBody>
      </p:sp>
      <p:sp>
        <p:nvSpPr>
          <p:cNvPr name="TextBox 14" id="14"/>
          <p:cNvSpPr txBox="true"/>
          <p:nvPr/>
        </p:nvSpPr>
        <p:spPr>
          <a:xfrm rot="0">
            <a:off x="12192665" y="3246907"/>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1</a:t>
            </a:r>
          </a:p>
        </p:txBody>
      </p:sp>
      <p:sp>
        <p:nvSpPr>
          <p:cNvPr name="TextBox 15" id="15"/>
          <p:cNvSpPr txBox="true"/>
          <p:nvPr/>
        </p:nvSpPr>
        <p:spPr>
          <a:xfrm rot="0">
            <a:off x="4810518" y="6212338"/>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2</a:t>
            </a:r>
          </a:p>
        </p:txBody>
      </p:sp>
      <p:sp>
        <p:nvSpPr>
          <p:cNvPr name="Freeform 16" id="16"/>
          <p:cNvSpPr/>
          <p:nvPr/>
        </p:nvSpPr>
        <p:spPr>
          <a:xfrm flipH="false" flipV="false" rot="0">
            <a:off x="5729261" y="6901499"/>
            <a:ext cx="1028665" cy="1028665"/>
          </a:xfrm>
          <a:custGeom>
            <a:avLst/>
            <a:gdLst/>
            <a:ahLst/>
            <a:cxnLst/>
            <a:rect r="r" b="b" t="t" l="l"/>
            <a:pathLst>
              <a:path h="1028665" w="1028665">
                <a:moveTo>
                  <a:pt x="0" y="0"/>
                </a:moveTo>
                <a:lnTo>
                  <a:pt x="1028665" y="0"/>
                </a:lnTo>
                <a:lnTo>
                  <a:pt x="1028665" y="1028665"/>
                </a:lnTo>
                <a:lnTo>
                  <a:pt x="0" y="10286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327834"/>
            <a:ext cx="6545941" cy="17430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What we have done</a:t>
            </a:r>
          </a:p>
        </p:txBody>
      </p:sp>
      <p:sp>
        <p:nvSpPr>
          <p:cNvPr name="TextBox 3" id="3"/>
          <p:cNvSpPr txBox="true"/>
          <p:nvPr/>
        </p:nvSpPr>
        <p:spPr>
          <a:xfrm rot="0">
            <a:off x="4051282" y="2134015"/>
            <a:ext cx="7810681" cy="3378273"/>
          </a:xfrm>
          <a:prstGeom prst="rect">
            <a:avLst/>
          </a:prstGeom>
        </p:spPr>
        <p:txBody>
          <a:bodyPr anchor="t" rtlCol="false" tIns="0" lIns="0" bIns="0" rIns="0">
            <a:spAutoFit/>
          </a:bodyPr>
          <a:lstStyle/>
          <a:p>
            <a:pPr algn="l">
              <a:lnSpc>
                <a:spcPts val="3320"/>
              </a:lnSpc>
            </a:pPr>
            <a:r>
              <a:rPr lang="en-US" sz="2372" spc="26" b="true">
                <a:solidFill>
                  <a:srgbClr val="000000"/>
                </a:solidFill>
                <a:latin typeface="Codec Pro Bold"/>
                <a:ea typeface="Codec Pro Bold"/>
                <a:cs typeface="Codec Pro Bold"/>
                <a:sym typeface="Codec Pro Bold"/>
              </a:rPr>
              <a:t>Control Strategies</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Implement joint-space trajectory interpolation: move from pick to place positions using inte</a:t>
            </a:r>
            <a:r>
              <a:rPr lang="en-US" sz="2372" spc="26">
                <a:solidFill>
                  <a:srgbClr val="000000"/>
                </a:solidFill>
                <a:latin typeface="Codec Pro"/>
                <a:ea typeface="Codec Pro"/>
                <a:cs typeface="Codec Pro"/>
                <a:sym typeface="Codec Pro"/>
              </a:rPr>
              <a:t>rpolated joint trajectories between q_pick and q_place. (has not been implementted yet)</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a:t>
            </a:r>
            <a:r>
              <a:rPr lang="en-US" sz="2372" spc="26">
                <a:solidFill>
                  <a:srgbClr val="000000"/>
                </a:solidFill>
                <a:latin typeface="Codec Pro"/>
                <a:ea typeface="Codec Pro"/>
                <a:cs typeface="Codec Pro"/>
                <a:sym typeface="Codec Pro"/>
              </a:rPr>
              <a:t>Implement resolved-rate motion control: use Cartesian velocity control to reach pick and place poses smoothly.</a:t>
            </a:r>
          </a:p>
        </p:txBody>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6" id="6"/>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7" id="7"/>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3152406" y="2603992"/>
            <a:ext cx="1028665" cy="1028665"/>
          </a:xfrm>
          <a:custGeom>
            <a:avLst/>
            <a:gdLst/>
            <a:ahLst/>
            <a:cxnLst/>
            <a:rect r="r" b="b" t="t" l="l"/>
            <a:pathLst>
              <a:path h="1028665" w="1028665">
                <a:moveTo>
                  <a:pt x="0" y="0"/>
                </a:moveTo>
                <a:lnTo>
                  <a:pt x="1028665" y="0"/>
                </a:lnTo>
                <a:lnTo>
                  <a:pt x="1028665" y="1028665"/>
                </a:lnTo>
                <a:lnTo>
                  <a:pt x="0" y="10286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5833425" y="6958971"/>
            <a:ext cx="902332" cy="919574"/>
          </a:xfrm>
          <a:custGeom>
            <a:avLst/>
            <a:gdLst/>
            <a:ahLst/>
            <a:cxnLst/>
            <a:rect r="r" b="b" t="t" l="l"/>
            <a:pathLst>
              <a:path h="919574" w="902332">
                <a:moveTo>
                  <a:pt x="0" y="0"/>
                </a:moveTo>
                <a:lnTo>
                  <a:pt x="902333" y="0"/>
                </a:lnTo>
                <a:lnTo>
                  <a:pt x="902333" y="919575"/>
                </a:lnTo>
                <a:lnTo>
                  <a:pt x="0" y="919575"/>
                </a:lnTo>
                <a:lnTo>
                  <a:pt x="0" y="0"/>
                </a:lnTo>
                <a:close/>
              </a:path>
            </a:pathLst>
          </a:custGeom>
          <a:blipFill>
            <a:blip r:embed="rId14"/>
            <a:stretch>
              <a:fillRect l="0" t="0" r="0" b="0"/>
            </a:stretch>
          </a:blipFill>
        </p:spPr>
      </p:sp>
      <p:sp>
        <p:nvSpPr>
          <p:cNvPr name="TextBox 14" id="14"/>
          <p:cNvSpPr txBox="true"/>
          <p:nvPr/>
        </p:nvSpPr>
        <p:spPr>
          <a:xfrm rot="0">
            <a:off x="6770366" y="5646072"/>
            <a:ext cx="7466352" cy="2540073"/>
          </a:xfrm>
          <a:prstGeom prst="rect">
            <a:avLst/>
          </a:prstGeom>
        </p:spPr>
        <p:txBody>
          <a:bodyPr anchor="t" rtlCol="false" tIns="0" lIns="0" bIns="0" rIns="0">
            <a:spAutoFit/>
          </a:bodyPr>
          <a:lstStyle/>
          <a:p>
            <a:pPr algn="l">
              <a:lnSpc>
                <a:spcPts val="3320"/>
              </a:lnSpc>
            </a:pPr>
            <a:r>
              <a:rPr lang="en-US" sz="2372" spc="26" b="true">
                <a:solidFill>
                  <a:srgbClr val="000000"/>
                </a:solidFill>
                <a:latin typeface="Codec Pro Bold"/>
                <a:ea typeface="Codec Pro Bold"/>
                <a:cs typeface="Codec Pro Bold"/>
                <a:sym typeface="Codec Pro Bold"/>
              </a:rPr>
              <a:t>Analysis</a:t>
            </a:r>
          </a:p>
          <a:p>
            <a:pPr algn="l" marL="512141" indent="-256071" lvl="1">
              <a:lnSpc>
                <a:spcPts val="3320"/>
              </a:lnSpc>
              <a:buFont typeface="Arial"/>
              <a:buChar char="•"/>
            </a:pPr>
            <a:r>
              <a:rPr lang="en-US" b="true" sz="2372" spc="26">
                <a:solidFill>
                  <a:srgbClr val="000000"/>
                </a:solidFill>
                <a:latin typeface="Codec Pro Bold"/>
                <a:ea typeface="Codec Pro Bold"/>
                <a:cs typeface="Codec Pro Bold"/>
                <a:sym typeface="Codec Pro Bold"/>
              </a:rPr>
              <a:t> </a:t>
            </a:r>
            <a:r>
              <a:rPr lang="en-US" sz="2372" spc="26">
                <a:solidFill>
                  <a:srgbClr val="000000"/>
                </a:solidFill>
                <a:latin typeface="Codec Pro"/>
                <a:ea typeface="Codec Pro"/>
                <a:cs typeface="Codec Pro"/>
                <a:sym typeface="Codec Pro"/>
              </a:rPr>
              <a:t>Pl</a:t>
            </a:r>
            <a:r>
              <a:rPr lang="en-US" sz="2372" spc="26">
                <a:solidFill>
                  <a:srgbClr val="000000"/>
                </a:solidFill>
                <a:latin typeface="Codec Pro"/>
                <a:ea typeface="Codec Pro"/>
                <a:cs typeface="Codec Pro"/>
                <a:sym typeface="Codec Pro"/>
              </a:rPr>
              <a:t>ot and compare trajectories for both strategies (joint and Cartesian space).</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Analyze end-effector path smoothness.</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Analyze execution time.</a:t>
            </a:r>
          </a:p>
          <a:p>
            <a:pPr algn="l" marL="512141" indent="-256071" lvl="1">
              <a:lnSpc>
                <a:spcPts val="3320"/>
              </a:lnSpc>
              <a:buFont typeface="Arial"/>
              <a:buChar char="•"/>
            </a:pPr>
            <a:r>
              <a:rPr lang="en-US" sz="2372" spc="26">
                <a:solidFill>
                  <a:srgbClr val="000000"/>
                </a:solidFill>
                <a:latin typeface="Codec Pro"/>
                <a:ea typeface="Codec Pro"/>
                <a:cs typeface="Codec Pro"/>
                <a:sym typeface="Codec Pro"/>
              </a:rPr>
              <a:t> Analyze sorting accuracy.</a:t>
            </a:r>
          </a:p>
        </p:txBody>
      </p:sp>
      <p:sp>
        <p:nvSpPr>
          <p:cNvPr name="TextBox 15" id="15"/>
          <p:cNvSpPr txBox="true"/>
          <p:nvPr/>
        </p:nvSpPr>
        <p:spPr>
          <a:xfrm rot="0">
            <a:off x="12192665" y="3246907"/>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3</a:t>
            </a:r>
          </a:p>
        </p:txBody>
      </p:sp>
      <p:sp>
        <p:nvSpPr>
          <p:cNvPr name="TextBox 16" id="16"/>
          <p:cNvSpPr txBox="true"/>
          <p:nvPr/>
        </p:nvSpPr>
        <p:spPr>
          <a:xfrm rot="0">
            <a:off x="4810518" y="6212338"/>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1166034"/>
            <a:ext cx="6545941"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Extra steps</a:t>
            </a:r>
          </a:p>
        </p:txBody>
      </p:sp>
      <p:sp>
        <p:nvSpPr>
          <p:cNvPr name="TextBox 3" id="3"/>
          <p:cNvSpPr txBox="true"/>
          <p:nvPr/>
        </p:nvSpPr>
        <p:spPr>
          <a:xfrm rot="0">
            <a:off x="4381984" y="2948408"/>
            <a:ext cx="7810681" cy="1282773"/>
          </a:xfrm>
          <a:prstGeom prst="rect">
            <a:avLst/>
          </a:prstGeom>
        </p:spPr>
        <p:txBody>
          <a:bodyPr anchor="t" rtlCol="false" tIns="0" lIns="0" bIns="0" rIns="0">
            <a:spAutoFit/>
          </a:bodyPr>
          <a:lstStyle/>
          <a:p>
            <a:pPr algn="l">
              <a:lnSpc>
                <a:spcPts val="3320"/>
              </a:lnSpc>
            </a:pPr>
            <a:r>
              <a:rPr lang="en-US" sz="2372" spc="26">
                <a:solidFill>
                  <a:srgbClr val="000000"/>
                </a:solidFill>
                <a:latin typeface="Codec Pro"/>
                <a:ea typeface="Codec Pro"/>
                <a:cs typeface="Codec Pro"/>
                <a:sym typeface="Codec Pro"/>
              </a:rPr>
              <a:t>Mock a camera so that the robot has to find the location and color of the spheres based on visual in</a:t>
            </a:r>
            <a:r>
              <a:rPr lang="en-US" sz="2372" spc="26">
                <a:solidFill>
                  <a:srgbClr val="000000"/>
                </a:solidFill>
                <a:latin typeface="Codec Pro"/>
                <a:ea typeface="Codec Pro"/>
                <a:cs typeface="Codec Pro"/>
                <a:sym typeface="Codec Pro"/>
              </a:rPr>
              <a:t>put. (NOT FEASIBLE)</a:t>
            </a:r>
          </a:p>
        </p:txBody>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6" id="6"/>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7" id="7"/>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6433034" y="4999566"/>
            <a:ext cx="7466352" cy="2959173"/>
          </a:xfrm>
          <a:prstGeom prst="rect">
            <a:avLst/>
          </a:prstGeom>
        </p:spPr>
        <p:txBody>
          <a:bodyPr anchor="t" rtlCol="false" tIns="0" lIns="0" bIns="0" rIns="0">
            <a:spAutoFit/>
          </a:bodyPr>
          <a:lstStyle/>
          <a:p>
            <a:pPr algn="l">
              <a:lnSpc>
                <a:spcPts val="3320"/>
              </a:lnSpc>
            </a:pPr>
            <a:r>
              <a:rPr lang="en-US" sz="2372" spc="26">
                <a:solidFill>
                  <a:srgbClr val="000000"/>
                </a:solidFill>
                <a:latin typeface="Codec Pro"/>
                <a:ea typeface="Codec Pro"/>
                <a:cs typeface="Codec Pro"/>
                <a:sym typeface="Codec Pro"/>
              </a:rPr>
              <a:t>Put</a:t>
            </a:r>
            <a:r>
              <a:rPr lang="en-US" sz="2372" spc="26">
                <a:solidFill>
                  <a:srgbClr val="000000"/>
                </a:solidFill>
                <a:latin typeface="Codec Pro"/>
                <a:ea typeface="Codec Pro"/>
                <a:cs typeface="Codec Pro"/>
                <a:sym typeface="Codec Pro"/>
              </a:rPr>
              <a:t>ting cylinders between the berries and the boxes and create vectors of repulsion around these objects, this would make the robot sense the obstacles. We had the idea to make it even more complicated and gamified by letting the user control the position of the cilinder (trying to create a crash)</a:t>
            </a:r>
          </a:p>
        </p:txBody>
      </p:sp>
      <p:sp>
        <p:nvSpPr>
          <p:cNvPr name="TextBox 13" id="13"/>
          <p:cNvSpPr txBox="true"/>
          <p:nvPr/>
        </p:nvSpPr>
        <p:spPr>
          <a:xfrm rot="0">
            <a:off x="12192665" y="3246907"/>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+1</a:t>
            </a:r>
          </a:p>
        </p:txBody>
      </p:sp>
      <p:sp>
        <p:nvSpPr>
          <p:cNvPr name="TextBox 14" id="14"/>
          <p:cNvSpPr txBox="true"/>
          <p:nvPr/>
        </p:nvSpPr>
        <p:spPr>
          <a:xfrm rot="0">
            <a:off x="4581255" y="6136266"/>
            <a:ext cx="1474073"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2595833" y="4397242"/>
            <a:ext cx="13096334" cy="1800309"/>
          </a:xfrm>
          <a:prstGeom prst="rect">
            <a:avLst/>
          </a:prstGeom>
        </p:spPr>
        <p:txBody>
          <a:bodyPr anchor="t" rtlCol="false" tIns="0" lIns="0" bIns="0" rIns="0">
            <a:spAutoFit/>
          </a:bodyPr>
          <a:lstStyle/>
          <a:p>
            <a:pPr algn="ctr">
              <a:lnSpc>
                <a:spcPts val="13287"/>
              </a:lnSpc>
            </a:pPr>
            <a:r>
              <a:rPr lang="en-US" sz="13698" b="true">
                <a:solidFill>
                  <a:srgbClr val="214184"/>
                </a:solidFill>
                <a:latin typeface="Stinger Wide Bold"/>
                <a:ea typeface="Stinger Wide Bold"/>
                <a:cs typeface="Stinger Wide Bold"/>
                <a:sym typeface="Stinger Wide Bold"/>
              </a:rPr>
              <a:t>Showcase!</a:t>
            </a:r>
          </a:p>
        </p:txBody>
      </p:sp>
      <p:sp>
        <p:nvSpPr>
          <p:cNvPr name="Freeform 3" id="3"/>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5" id="5"/>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6" id="6"/>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DAG5zsoPuic</dc:identifier>
  <dcterms:modified xsi:type="dcterms:W3CDTF">2011-08-01T06:04:30Z</dcterms:modified>
  <cp:revision>1</cp:revision>
  <dc:title>Blue Modern Robotics Automation Engineering Group Project Presentation</dc:title>
</cp:coreProperties>
</file>